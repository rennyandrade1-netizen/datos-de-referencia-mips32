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600" cy="56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s-V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dos veces para añadir una imagen</a:t>
            </a:r>
            <a:endParaRPr lang="es-V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600" cy="80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6269165-10AC-463D-B4BA-41D18F7FFA6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600" cy="146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3342DBE-A00E-4223-9315-7DBD59EB411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404527E-B68E-4914-BA06-C9F0A5BB35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600" cy="584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120" cy="584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B71D9E4-6E8D-404B-A089-05BCE2221DE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CC5173D-0102-4572-8384-0797EC8BEE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600" cy="136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600" cy="1498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94890D4-0682-44F6-A9A7-90947083A5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6DF93AE-8C83-4D59-909F-AC13A719A5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480" cy="63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480" cy="394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9920" cy="63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9920" cy="394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97B9AFE-3669-40CD-8DF4-6CBBDAA9303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B4AC11A-463E-45EC-A221-8289C484B6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9431D44-0014-41CE-88A9-C5593E8B737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360" cy="116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9840" cy="585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360" cy="468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V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V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839CD33-FF41-4F88-9A1D-E7C3895D786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V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609480" y="5619600"/>
            <a:ext cx="10971000" cy="62676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609480" y="5619600"/>
            <a:ext cx="10971000" cy="756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609480" y="609480"/>
            <a:ext cx="18216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INFORME DE PROYECTO </a:t>
            </a:r>
            <a:endParaRPr lang="es-V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9829800" y="609480"/>
            <a:ext cx="188316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C++ / MEMORY SIMULATION</a:t>
            </a:r>
            <a:endParaRPr lang="es-V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609480" y="2185200"/>
            <a:ext cx="9099360" cy="11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4620"/>
              </a:lnSpc>
            </a:pPr>
            <a:r>
              <a:rPr lang="es-ES" sz="420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Simulador de Sistemas de Archivos con Bloques</a:t>
            </a:r>
            <a:endParaRPr lang="es-VE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609480" y="3587040"/>
            <a:ext cx="752292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475"/>
              </a:lnSpc>
            </a:pPr>
            <a:r>
              <a:rPr lang="es-ES" sz="165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Emulación arquitectónica de FAT y Ext2 integrados a una jerarquía estricta de memoria caché (L1, L2, L3)</a:t>
            </a:r>
            <a:endParaRPr lang="es-VE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609480" y="5857920"/>
            <a:ext cx="7470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0" u="none" strike="noStrike">
                <a:solidFill>
                  <a:srgbClr val="64748B"/>
                </a:solidFill>
                <a:effectLst/>
                <a:uFillTx/>
                <a:latin typeface="Inter"/>
              </a:rPr>
              <a:t>participante</a:t>
            </a:r>
            <a:endParaRPr lang="es-V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609480" y="6058080"/>
            <a:ext cx="2340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200" b="1" u="none" strike="noStrike">
                <a:solidFill>
                  <a:srgbClr val="E2E8F0"/>
                </a:solidFill>
                <a:effectLst/>
                <a:uFillTx/>
                <a:latin typeface="Inter"/>
              </a:rPr>
              <a:t>Eric Guacache (C.I: 31.788.759)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3362400" y="5857920"/>
            <a:ext cx="7470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0" u="none" strike="noStrike">
                <a:solidFill>
                  <a:srgbClr val="64748B"/>
                </a:solidFill>
                <a:effectLst/>
                <a:uFillTx/>
                <a:latin typeface="Inter"/>
              </a:rPr>
              <a:t>participante</a:t>
            </a:r>
            <a:endParaRPr lang="es-V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3362400" y="6058080"/>
            <a:ext cx="2421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200" b="1" u="none" strike="noStrike">
                <a:solidFill>
                  <a:srgbClr val="E2E8F0"/>
                </a:solidFill>
                <a:effectLst/>
                <a:uFillTx/>
                <a:latin typeface="Inter"/>
              </a:rPr>
              <a:t>Renny Andrade (C.I: 29.727.828)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1"/>
          <p:cNvSpPr/>
          <p:nvPr/>
        </p:nvSpPr>
        <p:spPr>
          <a:xfrm>
            <a:off x="609480" y="1943280"/>
            <a:ext cx="5256000" cy="119844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Rounded Rectangle 2"/>
          <p:cNvSpPr/>
          <p:nvPr/>
        </p:nvSpPr>
        <p:spPr>
          <a:xfrm>
            <a:off x="609480" y="3333600"/>
            <a:ext cx="5256000" cy="119844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ounded Rectangle 3"/>
          <p:cNvSpPr/>
          <p:nvPr/>
        </p:nvSpPr>
        <p:spPr>
          <a:xfrm>
            <a:off x="609480" y="4724280"/>
            <a:ext cx="5256000" cy="119844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4" descr="image.png"/>
          <p:cNvPicPr/>
          <p:nvPr/>
        </p:nvPicPr>
        <p:blipFill>
          <a:blip r:embed="rId1"/>
          <a:stretch/>
        </p:blipFill>
        <p:spPr>
          <a:xfrm>
            <a:off x="6324480" y="2124000"/>
            <a:ext cx="5256000" cy="361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Picture 5" descr="image.png"/>
          <p:cNvPicPr/>
          <p:nvPr/>
        </p:nvPicPr>
        <p:blipFill>
          <a:blip r:embed="rId2"/>
          <a:stretch/>
        </p:blipFill>
        <p:spPr>
          <a:xfrm>
            <a:off x="847800" y="2209680"/>
            <a:ext cx="188640" cy="18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Picture 6" descr="image.png"/>
          <p:cNvPicPr/>
          <p:nvPr/>
        </p:nvPicPr>
        <p:blipFill>
          <a:blip r:embed="rId3"/>
          <a:stretch/>
        </p:blipFill>
        <p:spPr>
          <a:xfrm>
            <a:off x="847800" y="3600360"/>
            <a:ext cx="188640" cy="18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Picture 7" descr="image.png"/>
          <p:cNvPicPr/>
          <p:nvPr/>
        </p:nvPicPr>
        <p:blipFill>
          <a:blip r:embed="rId4"/>
          <a:stretch/>
        </p:blipFill>
        <p:spPr>
          <a:xfrm>
            <a:off x="847800" y="4991040"/>
            <a:ext cx="169560" cy="18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Box 8"/>
          <p:cNvSpPr/>
          <p:nvPr/>
        </p:nvSpPr>
        <p:spPr>
          <a:xfrm>
            <a:off x="609480" y="533520"/>
            <a:ext cx="110664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1" u="none" strike="noStrike">
                <a:solidFill>
                  <a:srgbClr val="2563EB"/>
                </a:solidFill>
                <a:effectLst/>
                <a:uFillTx/>
                <a:latin typeface="Inter"/>
              </a:rPr>
              <a:t> 01. LOS DESAFÍOS TÉCNICOS </a:t>
            </a:r>
            <a:endParaRPr lang="es-V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9"/>
          <p:cNvSpPr/>
          <p:nvPr/>
        </p:nvSpPr>
        <p:spPr>
          <a:xfrm>
            <a:off x="609480" y="800280"/>
            <a:ext cx="742680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7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El Problema de Emulación a Bajo Nivel</a:t>
            </a:r>
            <a:endParaRPr lang="es-V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847800" y="2181240"/>
            <a:ext cx="3749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8584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Abstracción de Almacenamiento</a:t>
            </a:r>
            <a:endParaRPr lang="es-V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1"/>
          <p:cNvSpPr/>
          <p:nvPr/>
        </p:nvSpPr>
        <p:spPr>
          <a:xfrm>
            <a:off x="847800" y="2505240"/>
            <a:ext cx="48751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Modelado explícito de bloques físicos y estructuras de metadatos.</a:t>
            </a:r>
            <a:endParaRPr lang="es-V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2"/>
          <p:cNvSpPr/>
          <p:nvPr/>
        </p:nvSpPr>
        <p:spPr>
          <a:xfrm>
            <a:off x="847800" y="3571920"/>
            <a:ext cx="3039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8584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Penalización por Latencia</a:t>
            </a:r>
            <a:endParaRPr lang="es-V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3"/>
          <p:cNvSpPr/>
          <p:nvPr/>
        </p:nvSpPr>
        <p:spPr>
          <a:xfrm>
            <a:off x="847800" y="3895560"/>
            <a:ext cx="48751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Costos de acceso descendentes desde L1 hasta memoria RAM o disco.</a:t>
            </a:r>
            <a:endParaRPr lang="es-V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4"/>
          <p:cNvSpPr/>
          <p:nvPr/>
        </p:nvSpPr>
        <p:spPr>
          <a:xfrm>
            <a:off x="847800" y="4962600"/>
            <a:ext cx="3364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6676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Sincronización de Metadatos</a:t>
            </a:r>
            <a:endParaRPr lang="es-V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5"/>
          <p:cNvSpPr/>
          <p:nvPr/>
        </p:nvSpPr>
        <p:spPr>
          <a:xfrm>
            <a:off x="847800" y="5286240"/>
            <a:ext cx="48751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Impacto directo de las modificaciones lógicas en sectores físicos.</a:t>
            </a:r>
            <a:endParaRPr lang="es-V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ounded Rectangle 1"/>
          <p:cNvSpPr/>
          <p:nvPr/>
        </p:nvSpPr>
        <p:spPr>
          <a:xfrm>
            <a:off x="609480" y="2647800"/>
            <a:ext cx="3503520" cy="2608200"/>
          </a:xfrm>
          <a:prstGeom prst="roundRect">
            <a:avLst>
              <a:gd name="adj" fmla="val 5839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Rounded Rectangle 2"/>
          <p:cNvSpPr/>
          <p:nvPr/>
        </p:nvSpPr>
        <p:spPr>
          <a:xfrm>
            <a:off x="4343400" y="2647800"/>
            <a:ext cx="3503520" cy="2608200"/>
          </a:xfrm>
          <a:prstGeom prst="roundRect">
            <a:avLst>
              <a:gd name="adj" fmla="val 5839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Rounded Rectangle 3"/>
          <p:cNvSpPr/>
          <p:nvPr/>
        </p:nvSpPr>
        <p:spPr>
          <a:xfrm>
            <a:off x="8077320" y="2647800"/>
            <a:ext cx="3503520" cy="2608200"/>
          </a:xfrm>
          <a:prstGeom prst="roundRect">
            <a:avLst>
              <a:gd name="adj" fmla="val 5839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Picture 4" descr="image.png"/>
          <p:cNvPicPr/>
          <p:nvPr/>
        </p:nvPicPr>
        <p:blipFill>
          <a:blip r:embed="rId1"/>
          <a:stretch/>
        </p:blipFill>
        <p:spPr>
          <a:xfrm>
            <a:off x="923760" y="2962440"/>
            <a:ext cx="455400" cy="45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Picture 5" descr="image.png"/>
          <p:cNvPicPr/>
          <p:nvPr/>
        </p:nvPicPr>
        <p:blipFill>
          <a:blip r:embed="rId2"/>
          <a:stretch/>
        </p:blipFill>
        <p:spPr>
          <a:xfrm>
            <a:off x="4657680" y="2962440"/>
            <a:ext cx="455400" cy="45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Picture 6" descr="image.png"/>
          <p:cNvPicPr/>
          <p:nvPr/>
        </p:nvPicPr>
        <p:blipFill>
          <a:blip r:embed="rId3"/>
          <a:stretch/>
        </p:blipFill>
        <p:spPr>
          <a:xfrm>
            <a:off x="8391600" y="2962440"/>
            <a:ext cx="455400" cy="45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Picture 7" descr="image.png"/>
          <p:cNvPicPr/>
          <p:nvPr/>
        </p:nvPicPr>
        <p:blipFill>
          <a:blip r:embed="rId4"/>
          <a:stretch/>
        </p:blipFill>
        <p:spPr>
          <a:xfrm>
            <a:off x="1033560" y="3095640"/>
            <a:ext cx="236160" cy="18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Picture 8" descr="image.png"/>
          <p:cNvPicPr/>
          <p:nvPr/>
        </p:nvPicPr>
        <p:blipFill>
          <a:blip r:embed="rId5"/>
          <a:stretch/>
        </p:blipFill>
        <p:spPr>
          <a:xfrm>
            <a:off x="4776840" y="3095640"/>
            <a:ext cx="217440" cy="18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Picture 9" descr="image.png"/>
          <p:cNvPicPr/>
          <p:nvPr/>
        </p:nvPicPr>
        <p:blipFill>
          <a:blip r:embed="rId6"/>
          <a:stretch/>
        </p:blipFill>
        <p:spPr>
          <a:xfrm>
            <a:off x="8510760" y="3095640"/>
            <a:ext cx="217440" cy="18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Box 10"/>
          <p:cNvSpPr/>
          <p:nvPr/>
        </p:nvSpPr>
        <p:spPr>
          <a:xfrm>
            <a:off x="609480" y="533520"/>
            <a:ext cx="110664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1" u="none" strike="noStrike">
                <a:solidFill>
                  <a:srgbClr val="2563EB"/>
                </a:solidFill>
                <a:effectLst/>
                <a:uFillTx/>
                <a:latin typeface="Inter"/>
              </a:rPr>
              <a:t> 02. ESTRUCTURA EN DISCO </a:t>
            </a:r>
            <a:endParaRPr lang="es-V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1"/>
          <p:cNvSpPr/>
          <p:nvPr/>
        </p:nvSpPr>
        <p:spPr>
          <a:xfrm>
            <a:off x="609480" y="800280"/>
            <a:ext cx="754956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7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FAT vs Ext2: Organización y Asignación</a:t>
            </a:r>
            <a:endParaRPr lang="es-V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2"/>
          <p:cNvSpPr/>
          <p:nvPr/>
        </p:nvSpPr>
        <p:spPr>
          <a:xfrm>
            <a:off x="923760" y="3610080"/>
            <a:ext cx="228600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65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FAT · Cadena Lineal</a:t>
            </a:r>
            <a:endParaRPr lang="es-VE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13"/>
          <p:cNvSpPr/>
          <p:nvPr/>
        </p:nvSpPr>
        <p:spPr>
          <a:xfrm>
            <a:off x="923760" y="3990960"/>
            <a:ext cx="225144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Tabla centralizada en disco.</a:t>
            </a:r>
            <a:endParaRPr lang="es-V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4"/>
          <p:cNvSpPr/>
          <p:nvPr/>
        </p:nvSpPr>
        <p:spPr>
          <a:xfrm>
            <a:off x="923760" y="4343400"/>
            <a:ext cx="297000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Recorrido enlazado bloque a bloque.</a:t>
            </a:r>
            <a:endParaRPr lang="es-V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15"/>
          <p:cNvSpPr/>
          <p:nvPr/>
        </p:nvSpPr>
        <p:spPr>
          <a:xfrm>
            <a:off x="4657680" y="3610080"/>
            <a:ext cx="258732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65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Ext2 · Inodos Directos</a:t>
            </a:r>
            <a:endParaRPr lang="es-VE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6"/>
          <p:cNvSpPr/>
          <p:nvPr/>
        </p:nvSpPr>
        <p:spPr>
          <a:xfrm>
            <a:off x="4657680" y="3990960"/>
            <a:ext cx="29700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Desacoplamiento de nombres y metadatos.</a:t>
            </a:r>
            <a:endParaRPr lang="es-V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17"/>
          <p:cNvSpPr/>
          <p:nvPr/>
        </p:nvSpPr>
        <p:spPr>
          <a:xfrm>
            <a:off x="4657680" y="4543560"/>
            <a:ext cx="245520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Punteros directos e indirectos.</a:t>
            </a:r>
            <a:endParaRPr lang="es-V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8"/>
          <p:cNvSpPr/>
          <p:nvPr/>
        </p:nvSpPr>
        <p:spPr>
          <a:xfrm>
            <a:off x="8391600" y="3610080"/>
            <a:ext cx="296172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65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Ext2 · Grupos de Bloques</a:t>
            </a:r>
            <a:endParaRPr lang="es-VE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9"/>
          <p:cNvSpPr/>
          <p:nvPr/>
        </p:nvSpPr>
        <p:spPr>
          <a:xfrm>
            <a:off x="8391600" y="3990960"/>
            <a:ext cx="29700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Superbloque y mapas de bits locales.</a:t>
            </a:r>
            <a:endParaRPr lang="es-V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0"/>
          <p:cNvSpPr/>
          <p:nvPr/>
        </p:nvSpPr>
        <p:spPr>
          <a:xfrm>
            <a:off x="8391600" y="4543560"/>
            <a:ext cx="29700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Mitigación de fragmentación externa.</a:t>
            </a:r>
            <a:endParaRPr lang="es-V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ounded Rectangle 1"/>
          <p:cNvSpPr/>
          <p:nvPr/>
        </p:nvSpPr>
        <p:spPr>
          <a:xfrm>
            <a:off x="609480" y="3072960"/>
            <a:ext cx="6039000" cy="1720080"/>
          </a:xfrm>
          <a:prstGeom prst="roundRect">
            <a:avLst>
              <a:gd name="adj" fmla="val 6637"/>
            </a:avLst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ounded Rectangle 2"/>
          <p:cNvSpPr/>
          <p:nvPr/>
        </p:nvSpPr>
        <p:spPr>
          <a:xfrm>
            <a:off x="6993000" y="2838600"/>
            <a:ext cx="4587480" cy="99828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Rounded Rectangle 3"/>
          <p:cNvSpPr/>
          <p:nvPr/>
        </p:nvSpPr>
        <p:spPr>
          <a:xfrm>
            <a:off x="6993000" y="4029120"/>
            <a:ext cx="4587480" cy="99828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4"/>
          <p:cNvSpPr/>
          <p:nvPr/>
        </p:nvSpPr>
        <p:spPr>
          <a:xfrm>
            <a:off x="609480" y="533520"/>
            <a:ext cx="110664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1" u="none" strike="noStrike">
                <a:solidFill>
                  <a:srgbClr val="2563EB"/>
                </a:solidFill>
                <a:effectLst/>
                <a:uFillTx/>
                <a:latin typeface="Inter"/>
              </a:rPr>
              <a:t> 03. IMPLEMENTACIÓN EN C++ </a:t>
            </a:r>
            <a:endParaRPr lang="es-V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5"/>
          <p:cNvSpPr/>
          <p:nvPr/>
        </p:nvSpPr>
        <p:spPr>
          <a:xfrm>
            <a:off x="609480" y="800280"/>
            <a:ext cx="828216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7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Modelado del Disco con Vectores Anidados</a:t>
            </a:r>
            <a:endParaRPr lang="es-V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6"/>
          <p:cNvSpPr/>
          <p:nvPr/>
        </p:nvSpPr>
        <p:spPr>
          <a:xfrm>
            <a:off x="876240" y="3339720"/>
            <a:ext cx="339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s-ES" sz="1130" b="0" u="none" strike="noStrike">
                <a:solidFill>
                  <a:srgbClr val="64748B"/>
                </a:solidFill>
                <a:effectLst/>
                <a:uFillTx/>
                <a:latin typeface="JetBrains Mono"/>
              </a:rPr>
              <a:t>// Representación bidimensional del disco físico</a:t>
            </a:r>
            <a:endParaRPr lang="es-V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7"/>
          <p:cNvSpPr/>
          <p:nvPr/>
        </p:nvSpPr>
        <p:spPr>
          <a:xfrm>
            <a:off x="876240" y="3682440"/>
            <a:ext cx="3198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s-ES" sz="1130" b="0" u="none" strike="noStrike">
                <a:solidFill>
                  <a:srgbClr val="38BDF8"/>
                </a:solidFill>
                <a:effectLst/>
                <a:uFillTx/>
                <a:latin typeface="JetBrains Mono"/>
              </a:rPr>
              <a:t>std::vector</a:t>
            </a:r>
            <a:r>
              <a:rPr lang="es-ES" sz="1130" b="0" u="none" strike="noStrike">
                <a:solidFill>
                  <a:srgbClr val="F8FAFC"/>
                </a:solidFill>
                <a:effectLst/>
                <a:uFillTx/>
                <a:latin typeface="JetBrains Mono"/>
              </a:rPr>
              <a:t>&lt;</a:t>
            </a:r>
            <a:r>
              <a:rPr lang="es-ES" sz="1130" b="0" u="none" strike="noStrike">
                <a:solidFill>
                  <a:srgbClr val="38BDF8"/>
                </a:solidFill>
                <a:effectLst/>
                <a:uFillTx/>
                <a:latin typeface="JetBrains Mono"/>
              </a:rPr>
              <a:t>std::vector</a:t>
            </a:r>
            <a:r>
              <a:rPr lang="es-ES" sz="1130" b="0" u="none" strike="noStrike">
                <a:solidFill>
                  <a:srgbClr val="F8FAFC"/>
                </a:solidFill>
                <a:effectLst/>
                <a:uFillTx/>
                <a:latin typeface="JetBrains Mono"/>
              </a:rPr>
              <a:t>&lt;</a:t>
            </a:r>
            <a:r>
              <a:rPr lang="es-ES" sz="1130" b="0" u="none" strike="noStrike">
                <a:solidFill>
                  <a:srgbClr val="F59E0B"/>
                </a:solidFill>
                <a:effectLst/>
                <a:uFillTx/>
                <a:latin typeface="JetBrains Mono"/>
              </a:rPr>
              <a:t>char</a:t>
            </a:r>
            <a:r>
              <a:rPr lang="es-ES" sz="1130" b="0" u="none" strike="noStrike">
                <a:solidFill>
                  <a:srgbClr val="F8FAFC"/>
                </a:solidFill>
                <a:effectLst/>
                <a:uFillTx/>
                <a:latin typeface="JetBrains Mono"/>
              </a:rPr>
              <a:t>&gt;&gt; </a:t>
            </a:r>
            <a:r>
              <a:rPr lang="es-ES" sz="1130" b="0" u="none" strike="noStrike">
                <a:solidFill>
                  <a:srgbClr val="4ADE80"/>
                </a:solidFill>
                <a:effectLst/>
                <a:uFillTx/>
                <a:latin typeface="JetBrains Mono"/>
              </a:rPr>
              <a:t>discoFisico</a:t>
            </a:r>
            <a:r>
              <a:rPr lang="es-ES" sz="1130" b="0" u="none" strike="noStrike">
                <a:solidFill>
                  <a:srgbClr val="F8FAFC"/>
                </a:solidFill>
                <a:effectLst/>
                <a:uFillTx/>
                <a:latin typeface="JetBrains Mono"/>
              </a:rPr>
              <a:t>;</a:t>
            </a:r>
            <a:endParaRPr lang="es-VE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8"/>
          <p:cNvSpPr/>
          <p:nvPr/>
        </p:nvSpPr>
        <p:spPr>
          <a:xfrm>
            <a:off x="876240" y="4101480"/>
            <a:ext cx="5600520" cy="37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s-ES" sz="105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// Vector externo: Conjunto de bloques de tamaño fijo</a:t>
            </a:r>
            <a:endParaRPr lang="es-V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678"/>
              </a:lnSpc>
            </a:pPr>
            <a:r>
              <a:rPr lang="es-ES" sz="1050" b="0" u="none" strike="noStrike">
                <a:solidFill>
                  <a:srgbClr val="94A3B8"/>
                </a:solidFill>
                <a:effectLst/>
                <a:uFillTx/>
                <a:latin typeface="JetBrains Mono"/>
              </a:rPr>
              <a:t> // Vector interno: Contenido en bytes de cada bloque</a:t>
            </a:r>
            <a:endParaRPr lang="es-V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9"/>
          <p:cNvSpPr/>
          <p:nvPr/>
        </p:nvSpPr>
        <p:spPr>
          <a:xfrm>
            <a:off x="7231320" y="3076560"/>
            <a:ext cx="2419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Estructura FAT en C++</a:t>
            </a:r>
            <a:endParaRPr lang="es-V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10"/>
          <p:cNvSpPr/>
          <p:nvPr/>
        </p:nvSpPr>
        <p:spPr>
          <a:xfrm>
            <a:off x="7231320" y="3400560"/>
            <a:ext cx="361260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Boot sector y tabla FAT en primeros bloques.</a:t>
            </a:r>
            <a:endParaRPr lang="es-V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1"/>
          <p:cNvSpPr/>
          <p:nvPr/>
        </p:nvSpPr>
        <p:spPr>
          <a:xfrm>
            <a:off x="7231320" y="4267080"/>
            <a:ext cx="2525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Estructura Ext2 en C++</a:t>
            </a:r>
            <a:endParaRPr lang="es-V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12"/>
          <p:cNvSpPr/>
          <p:nvPr/>
        </p:nvSpPr>
        <p:spPr>
          <a:xfrm>
            <a:off x="7231320" y="4591080"/>
            <a:ext cx="376884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Distribución conceptual de grupos de bloques.</a:t>
            </a:r>
            <a:endParaRPr lang="es-V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ounded Rectangle 1"/>
          <p:cNvSpPr/>
          <p:nvPr/>
        </p:nvSpPr>
        <p:spPr>
          <a:xfrm>
            <a:off x="609480" y="3238560"/>
            <a:ext cx="2419920" cy="14270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Rectangle 2"/>
          <p:cNvSpPr/>
          <p:nvPr/>
        </p:nvSpPr>
        <p:spPr>
          <a:xfrm>
            <a:off x="609480" y="3238560"/>
            <a:ext cx="36360" cy="142704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360" tIns="45000" rIns="1836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Rounded Rectangle 3"/>
          <p:cNvSpPr/>
          <p:nvPr/>
        </p:nvSpPr>
        <p:spPr>
          <a:xfrm>
            <a:off x="3459960" y="3238560"/>
            <a:ext cx="2419920" cy="14270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Rectangle 4"/>
          <p:cNvSpPr/>
          <p:nvPr/>
        </p:nvSpPr>
        <p:spPr>
          <a:xfrm>
            <a:off x="3459960" y="3238560"/>
            <a:ext cx="36360" cy="142704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360" tIns="45000" rIns="1836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Rounded Rectangle 5"/>
          <p:cNvSpPr/>
          <p:nvPr/>
        </p:nvSpPr>
        <p:spPr>
          <a:xfrm>
            <a:off x="6310440" y="3238560"/>
            <a:ext cx="2419920" cy="14270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Rectangle 6"/>
          <p:cNvSpPr/>
          <p:nvPr/>
        </p:nvSpPr>
        <p:spPr>
          <a:xfrm>
            <a:off x="6310440" y="3238560"/>
            <a:ext cx="36360" cy="142704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360" tIns="45000" rIns="1836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Rounded Rectangle 7"/>
          <p:cNvSpPr/>
          <p:nvPr/>
        </p:nvSpPr>
        <p:spPr>
          <a:xfrm>
            <a:off x="9160560" y="3238560"/>
            <a:ext cx="2419920" cy="14270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Rectangle 8"/>
          <p:cNvSpPr/>
          <p:nvPr/>
        </p:nvSpPr>
        <p:spPr>
          <a:xfrm>
            <a:off x="9160560" y="3238560"/>
            <a:ext cx="36360" cy="1427040"/>
          </a:xfrm>
          <a:prstGeom prst="rect">
            <a:avLst/>
          </a:prstGeom>
          <a:solidFill>
            <a:srgbClr val="6474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360" tIns="45000" rIns="1836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6" name="Picture 9" descr="image.png"/>
          <p:cNvPicPr/>
          <p:nvPr/>
        </p:nvPicPr>
        <p:blipFill>
          <a:blip r:embed="rId1"/>
          <a:stretch/>
        </p:blipFill>
        <p:spPr>
          <a:xfrm>
            <a:off x="3183840" y="3857760"/>
            <a:ext cx="122040" cy="18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Picture 10" descr="image.png"/>
          <p:cNvPicPr/>
          <p:nvPr/>
        </p:nvPicPr>
        <p:blipFill>
          <a:blip r:embed="rId2"/>
          <a:stretch/>
        </p:blipFill>
        <p:spPr>
          <a:xfrm>
            <a:off x="6033960" y="3857760"/>
            <a:ext cx="122040" cy="18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Picture 11" descr="image.png"/>
          <p:cNvPicPr/>
          <p:nvPr/>
        </p:nvPicPr>
        <p:blipFill>
          <a:blip r:embed="rId3"/>
          <a:stretch/>
        </p:blipFill>
        <p:spPr>
          <a:xfrm>
            <a:off x="8884440" y="3857760"/>
            <a:ext cx="122040" cy="18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Box 12"/>
          <p:cNvSpPr/>
          <p:nvPr/>
        </p:nvSpPr>
        <p:spPr>
          <a:xfrm>
            <a:off x="609480" y="533520"/>
            <a:ext cx="110664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1" u="none" strike="noStrike">
                <a:solidFill>
                  <a:srgbClr val="2563EB"/>
                </a:solidFill>
                <a:effectLst/>
                <a:uFillTx/>
                <a:latin typeface="Inter"/>
              </a:rPr>
              <a:t> 04. JERARQUÍA DE MEMORIA </a:t>
            </a:r>
            <a:endParaRPr lang="es-V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3"/>
          <p:cNvSpPr/>
          <p:nvPr/>
        </p:nvSpPr>
        <p:spPr>
          <a:xfrm>
            <a:off x="609480" y="800280"/>
            <a:ext cx="791676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7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Flujo de Búsqueda Multinivel (L1, L2, L3)</a:t>
            </a:r>
            <a:endParaRPr lang="es-V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4"/>
          <p:cNvSpPr/>
          <p:nvPr/>
        </p:nvSpPr>
        <p:spPr>
          <a:xfrm>
            <a:off x="838080" y="3467160"/>
            <a:ext cx="20581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1" u="none" strike="noStrike">
                <a:solidFill>
                  <a:srgbClr val="2563EB"/>
                </a:solidFill>
                <a:effectLst/>
                <a:uFillTx/>
                <a:latin typeface="Inter"/>
              </a:rPr>
              <a:t>NIVEL 1</a:t>
            </a:r>
            <a:endParaRPr lang="es-V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5"/>
          <p:cNvSpPr/>
          <p:nvPr/>
        </p:nvSpPr>
        <p:spPr>
          <a:xfrm>
            <a:off x="3688560" y="3467160"/>
            <a:ext cx="20581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1" u="none" strike="noStrike">
                <a:solidFill>
                  <a:srgbClr val="0284C7"/>
                </a:solidFill>
                <a:effectLst/>
                <a:uFillTx/>
                <a:latin typeface="Inter"/>
              </a:rPr>
              <a:t>NIVEL 2</a:t>
            </a:r>
            <a:endParaRPr lang="es-V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6"/>
          <p:cNvSpPr/>
          <p:nvPr/>
        </p:nvSpPr>
        <p:spPr>
          <a:xfrm>
            <a:off x="6539040" y="3467160"/>
            <a:ext cx="20581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1" u="none" strike="noStrike">
                <a:solidFill>
                  <a:srgbClr val="D97706"/>
                </a:solidFill>
                <a:effectLst/>
                <a:uFillTx/>
                <a:latin typeface="Inter"/>
              </a:rPr>
              <a:t>NIVEL 3</a:t>
            </a:r>
            <a:endParaRPr lang="es-V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17"/>
          <p:cNvSpPr/>
          <p:nvPr/>
        </p:nvSpPr>
        <p:spPr>
          <a:xfrm>
            <a:off x="9389160" y="3467160"/>
            <a:ext cx="20581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1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DISCO</a:t>
            </a:r>
            <a:endParaRPr lang="es-V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8"/>
          <p:cNvSpPr/>
          <p:nvPr/>
        </p:nvSpPr>
        <p:spPr>
          <a:xfrm>
            <a:off x="876240" y="3733920"/>
            <a:ext cx="966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Caché L1</a:t>
            </a:r>
            <a:endParaRPr lang="es-V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9"/>
          <p:cNvSpPr/>
          <p:nvPr/>
        </p:nvSpPr>
        <p:spPr>
          <a:xfrm>
            <a:off x="876240" y="4057560"/>
            <a:ext cx="201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2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Metadatos e inodos de uso inmediato.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20"/>
          <p:cNvSpPr/>
          <p:nvPr/>
        </p:nvSpPr>
        <p:spPr>
          <a:xfrm>
            <a:off x="3726720" y="3733920"/>
            <a:ext cx="966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Caché L2</a:t>
            </a:r>
            <a:endParaRPr lang="es-V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21"/>
          <p:cNvSpPr/>
          <p:nvPr/>
        </p:nvSpPr>
        <p:spPr>
          <a:xfrm>
            <a:off x="3726720" y="4057560"/>
            <a:ext cx="201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2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Bloques de datos y respaldo secundario.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22"/>
          <p:cNvSpPr/>
          <p:nvPr/>
        </p:nvSpPr>
        <p:spPr>
          <a:xfrm>
            <a:off x="6576840" y="3733920"/>
            <a:ext cx="966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Caché L3</a:t>
            </a:r>
            <a:endParaRPr lang="es-V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23"/>
          <p:cNvSpPr/>
          <p:nvPr/>
        </p:nvSpPr>
        <p:spPr>
          <a:xfrm>
            <a:off x="6576840" y="4057560"/>
            <a:ext cx="201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2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Estructuras de directorio y contexto global.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24"/>
          <p:cNvSpPr/>
          <p:nvPr/>
        </p:nvSpPr>
        <p:spPr>
          <a:xfrm>
            <a:off x="9427320" y="3733920"/>
            <a:ext cx="1266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RAM / Disco</a:t>
            </a:r>
            <a:endParaRPr lang="es-V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25"/>
          <p:cNvSpPr/>
          <p:nvPr/>
        </p:nvSpPr>
        <p:spPr>
          <a:xfrm>
            <a:off x="9427320" y="4057560"/>
            <a:ext cx="201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20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Acceso completo con penalización de latencia.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ounded Rectangle 1"/>
          <p:cNvSpPr/>
          <p:nvPr/>
        </p:nvSpPr>
        <p:spPr>
          <a:xfrm>
            <a:off x="609480" y="2143080"/>
            <a:ext cx="10971000" cy="35416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44" name="Table 2"/>
          <p:cNvGraphicFramePr/>
          <p:nvPr/>
        </p:nvGraphicFramePr>
        <p:xfrm>
          <a:off x="609480" y="2143080"/>
          <a:ext cx="10962720" cy="3543120"/>
        </p:xfrm>
        <a:graphic>
          <a:graphicData uri="http://schemas.openxmlformats.org/drawingml/2006/table">
            <a:tbl>
              <a:tblPr/>
              <a:tblGrid>
                <a:gridCol w="3543840"/>
                <a:gridCol w="2961720"/>
                <a:gridCol w="4457520"/>
              </a:tblGrid>
              <a:tr h="50616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Space Grotesk"/>
                        </a:rPr>
                        <a:t>Característica</a:t>
                      </a:r>
                      <a:endParaRPr lang="es-V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Space Grotesk"/>
                        </a:rPr>
                        <a:t>FAT</a:t>
                      </a:r>
                      <a:endParaRPr lang="es-V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8FAFC"/>
                          </a:solidFill>
                          <a:effectLst/>
                          <a:uFillTx/>
                          <a:latin typeface="Space Grotesk"/>
                        </a:rPr>
                        <a:t>Ext2</a:t>
                      </a:r>
                      <a:endParaRPr lang="es-VE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50616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Inter"/>
                        </a:rPr>
                        <a:t>Gestión de Metadatos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Directorio plano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Inodos + directorios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616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Inter"/>
                        </a:rPr>
                        <a:t>Estrategia de Asignación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Tabla enlazada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Punteros directos/indirectos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0616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Inter"/>
                        </a:rPr>
                        <a:t>Tamaño Máx. Archivo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Limitado por FAT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~ 2 GB (indirecto simple)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616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Inter"/>
                        </a:rPr>
                        <a:t>Fragmentación Externa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DC2626"/>
                          </a:solidFill>
                          <a:effectLst/>
                          <a:uFillTx/>
                          <a:latin typeface="Inter"/>
                        </a:rPr>
                        <a:t>Externa alta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16A34A"/>
                          </a:solidFill>
                          <a:effectLst/>
                          <a:uFillTx/>
                          <a:latin typeface="Inter"/>
                        </a:rPr>
                        <a:t>Externa moderada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0616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Inter"/>
                        </a:rPr>
                        <a:t>Liberación de Recursos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Liberar cadena FAT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Liberar bloques + inodo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616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Inter"/>
                        </a:rPr>
                        <a:t>Jerarquía de Caché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L1/L2/L3 por bloque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L1 inodos, L2 datos, L3 directorio</a:t>
                      </a:r>
                      <a:endParaRPr lang="es-V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45" name="TextBox 3"/>
          <p:cNvSpPr/>
          <p:nvPr/>
        </p:nvSpPr>
        <p:spPr>
          <a:xfrm>
            <a:off x="609480" y="533520"/>
            <a:ext cx="110664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1" u="none" strike="noStrike">
                <a:solidFill>
                  <a:srgbClr val="2563EB"/>
                </a:solidFill>
                <a:effectLst/>
                <a:uFillTx/>
                <a:latin typeface="Inter"/>
              </a:rPr>
              <a:t> 05. ANÁLISIS COMPARATIVO </a:t>
            </a:r>
            <a:endParaRPr lang="es-V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4"/>
          <p:cNvSpPr/>
          <p:nvPr/>
        </p:nvSpPr>
        <p:spPr>
          <a:xfrm>
            <a:off x="609480" y="800280"/>
            <a:ext cx="611172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7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Matriz Comparativa FAT vs Ext2</a:t>
            </a:r>
            <a:endParaRPr lang="es-V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ounded Rectangle 1"/>
          <p:cNvSpPr/>
          <p:nvPr/>
        </p:nvSpPr>
        <p:spPr>
          <a:xfrm>
            <a:off x="609480" y="2852640"/>
            <a:ext cx="5204160" cy="2122200"/>
          </a:xfrm>
          <a:prstGeom prst="roundRect">
            <a:avLst>
              <a:gd name="adj" fmla="val 7174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Rounded Rectangle 2"/>
          <p:cNvSpPr/>
          <p:nvPr/>
        </p:nvSpPr>
        <p:spPr>
          <a:xfrm>
            <a:off x="6272640" y="2819520"/>
            <a:ext cx="5307840" cy="99828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Rounded Rectangle 3"/>
          <p:cNvSpPr/>
          <p:nvPr/>
        </p:nvSpPr>
        <p:spPr>
          <a:xfrm>
            <a:off x="6272640" y="4010040"/>
            <a:ext cx="5307840" cy="99828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4"/>
          <p:cNvSpPr/>
          <p:nvPr/>
        </p:nvSpPr>
        <p:spPr>
          <a:xfrm>
            <a:off x="609480" y="533520"/>
            <a:ext cx="110664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1" u="none" strike="noStrike">
                <a:solidFill>
                  <a:srgbClr val="2563EB"/>
                </a:solidFill>
                <a:effectLst/>
                <a:uFillTx/>
                <a:latin typeface="Inter"/>
              </a:rPr>
              <a:t> 06. RENDIMIENTO EN FAT </a:t>
            </a:r>
            <a:endParaRPr lang="es-V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5"/>
          <p:cNvSpPr/>
          <p:nvPr/>
        </p:nvSpPr>
        <p:spPr>
          <a:xfrm>
            <a:off x="609480" y="800280"/>
            <a:ext cx="889380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7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Alta Efectividad de Caché en Arquitectura FAT</a:t>
            </a:r>
            <a:endParaRPr lang="es-V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6"/>
          <p:cNvSpPr/>
          <p:nvPr/>
        </p:nvSpPr>
        <p:spPr>
          <a:xfrm>
            <a:off x="2025720" y="3243240"/>
            <a:ext cx="237132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ts val="7801"/>
              </a:lnSpc>
            </a:pPr>
            <a:r>
              <a:rPr lang="es-ES" sz="7800" b="1" u="none" strike="noStrike">
                <a:solidFill>
                  <a:srgbClr val="2563EB"/>
                </a:solidFill>
                <a:effectLst/>
                <a:uFillTx/>
                <a:latin typeface="Space Grotesk"/>
              </a:rPr>
              <a:t>80%</a:t>
            </a:r>
            <a:endParaRPr lang="es-VE" sz="7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7"/>
          <p:cNvSpPr/>
          <p:nvPr/>
        </p:nvSpPr>
        <p:spPr>
          <a:xfrm>
            <a:off x="1421640" y="4386240"/>
            <a:ext cx="35794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35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Aciertos globales absorbidos por Caché L2</a:t>
            </a:r>
            <a:endParaRPr lang="es-V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8"/>
          <p:cNvSpPr/>
          <p:nvPr/>
        </p:nvSpPr>
        <p:spPr>
          <a:xfrm>
            <a:off x="6510960" y="3057480"/>
            <a:ext cx="2809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Sólida Localidad Temporal</a:t>
            </a:r>
            <a:endParaRPr lang="es-V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9"/>
          <p:cNvSpPr/>
          <p:nvPr/>
        </p:nvSpPr>
        <p:spPr>
          <a:xfrm>
            <a:off x="6510960" y="3381480"/>
            <a:ext cx="433872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42% de efectividad en L1 consultando sectores clave.</a:t>
            </a:r>
            <a:endParaRPr lang="es-V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10"/>
          <p:cNvSpPr/>
          <p:nvPr/>
        </p:nvSpPr>
        <p:spPr>
          <a:xfrm>
            <a:off x="6510960" y="4248000"/>
            <a:ext cx="3097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Flujo de Asignación Eficiente</a:t>
            </a:r>
            <a:endParaRPr lang="es-V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11"/>
          <p:cNvSpPr/>
          <p:nvPr/>
        </p:nvSpPr>
        <p:spPr>
          <a:xfrm>
            <a:off x="6510960" y="4572000"/>
            <a:ext cx="469584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Recorrido secuencial fluido maximizando recursos físicos.</a:t>
            </a:r>
            <a:endParaRPr lang="es-V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ounded Rectangle 1"/>
          <p:cNvSpPr/>
          <p:nvPr/>
        </p:nvSpPr>
        <p:spPr>
          <a:xfrm>
            <a:off x="609480" y="2809800"/>
            <a:ext cx="5204160" cy="2246040"/>
          </a:xfrm>
          <a:prstGeom prst="roundRect">
            <a:avLst>
              <a:gd name="adj" fmla="val 6779"/>
            </a:avLst>
          </a:prstGeom>
          <a:solidFill>
            <a:srgbClr val="F0FDF4"/>
          </a:solidFill>
          <a:ln>
            <a:solidFill>
              <a:srgbClr val="BBF7D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Rounded Rectangle 2"/>
          <p:cNvSpPr/>
          <p:nvPr/>
        </p:nvSpPr>
        <p:spPr>
          <a:xfrm>
            <a:off x="6272640" y="2838600"/>
            <a:ext cx="5307840" cy="99828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Rounded Rectangle 3"/>
          <p:cNvSpPr/>
          <p:nvPr/>
        </p:nvSpPr>
        <p:spPr>
          <a:xfrm>
            <a:off x="6272640" y="4029120"/>
            <a:ext cx="5307840" cy="99828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4"/>
          <p:cNvSpPr/>
          <p:nvPr/>
        </p:nvSpPr>
        <p:spPr>
          <a:xfrm>
            <a:off x="609480" y="533520"/>
            <a:ext cx="110664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1" u="none" strike="noStrike">
                <a:solidFill>
                  <a:srgbClr val="16A34A"/>
                </a:solidFill>
                <a:effectLst/>
                <a:uFillTx/>
                <a:latin typeface="Inter"/>
              </a:rPr>
              <a:t> 07. RENDIMIENTO EN EXT2 </a:t>
            </a:r>
            <a:endParaRPr lang="es-V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5"/>
          <p:cNvSpPr/>
          <p:nvPr/>
        </p:nvSpPr>
        <p:spPr>
          <a:xfrm>
            <a:off x="609480" y="800280"/>
            <a:ext cx="701388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7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Sinergia y Estabilidad Sobresaliente</a:t>
            </a:r>
            <a:endParaRPr lang="es-V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6"/>
          <p:cNvSpPr/>
          <p:nvPr/>
        </p:nvSpPr>
        <p:spPr>
          <a:xfrm>
            <a:off x="2514600" y="3200400"/>
            <a:ext cx="1393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200" b="1" u="none" strike="noStrike">
                <a:solidFill>
                  <a:srgbClr val="166534"/>
                </a:solidFill>
                <a:effectLst/>
                <a:uFillTx/>
                <a:latin typeface="JetBrains Mono"/>
              </a:rPr>
              <a:t>NIVELES L1 Y L2</a:t>
            </a:r>
            <a:endParaRPr lang="es-V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7"/>
          <p:cNvSpPr/>
          <p:nvPr/>
        </p:nvSpPr>
        <p:spPr>
          <a:xfrm>
            <a:off x="1916640" y="3476520"/>
            <a:ext cx="258984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ts val="6599"/>
              </a:lnSpc>
            </a:pPr>
            <a:r>
              <a:rPr lang="es-ES" sz="6600" b="1" u="none" strike="noStrike">
                <a:solidFill>
                  <a:srgbClr val="16A34A"/>
                </a:solidFill>
                <a:effectLst/>
                <a:uFillTx/>
                <a:latin typeface="Space Grotesk"/>
              </a:rPr>
              <a:t>100%</a:t>
            </a:r>
            <a:endParaRPr lang="es-VE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8"/>
          <p:cNvSpPr/>
          <p:nvPr/>
        </p:nvSpPr>
        <p:spPr>
          <a:xfrm>
            <a:off x="1490400" y="4467240"/>
            <a:ext cx="344232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350" b="1" u="none" strike="noStrike">
                <a:solidFill>
                  <a:srgbClr val="14532D"/>
                </a:solidFill>
                <a:effectLst/>
                <a:uFillTx/>
                <a:latin typeface="Inter"/>
              </a:rPr>
              <a:t>Tasa de acierto en Inodos y Datos activos</a:t>
            </a:r>
            <a:endParaRPr lang="es-V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9"/>
          <p:cNvSpPr/>
          <p:nvPr/>
        </p:nvSpPr>
        <p:spPr>
          <a:xfrm>
            <a:off x="6510960" y="3076560"/>
            <a:ext cx="2454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Estabilidad Estructural</a:t>
            </a:r>
            <a:endParaRPr lang="es-V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0"/>
          <p:cNvSpPr/>
          <p:nvPr/>
        </p:nvSpPr>
        <p:spPr>
          <a:xfrm>
            <a:off x="6510960" y="3400560"/>
            <a:ext cx="43329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Recuperación inmediata reteniendo mapas de inodos.</a:t>
            </a:r>
            <a:endParaRPr lang="es-V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11"/>
          <p:cNvSpPr/>
          <p:nvPr/>
        </p:nvSpPr>
        <p:spPr>
          <a:xfrm>
            <a:off x="6510960" y="4267080"/>
            <a:ext cx="2434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Gestión Coordinada L3</a:t>
            </a:r>
            <a:endParaRPr lang="es-V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12"/>
          <p:cNvSpPr/>
          <p:nvPr/>
        </p:nvSpPr>
        <p:spPr>
          <a:xfrm>
            <a:off x="6510960" y="4591080"/>
            <a:ext cx="41691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Alternancia fluida y ágil entre directorios de trabajo.</a:t>
            </a:r>
            <a:endParaRPr lang="es-V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ounded Rectangle 1"/>
          <p:cNvSpPr/>
          <p:nvPr/>
        </p:nvSpPr>
        <p:spPr>
          <a:xfrm>
            <a:off x="609480" y="2800440"/>
            <a:ext cx="5370480" cy="1036440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Rounded Rectangle 2"/>
          <p:cNvSpPr/>
          <p:nvPr/>
        </p:nvSpPr>
        <p:spPr>
          <a:xfrm>
            <a:off x="6210360" y="2800440"/>
            <a:ext cx="5370480" cy="1036440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Rounded Rectangle 3"/>
          <p:cNvSpPr/>
          <p:nvPr/>
        </p:nvSpPr>
        <p:spPr>
          <a:xfrm>
            <a:off x="609480" y="4067280"/>
            <a:ext cx="5370480" cy="1036440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Rounded Rectangle 4"/>
          <p:cNvSpPr/>
          <p:nvPr/>
        </p:nvSpPr>
        <p:spPr>
          <a:xfrm>
            <a:off x="6210360" y="4067280"/>
            <a:ext cx="5370480" cy="1036440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4" name="Picture 5" descr="image.png"/>
          <p:cNvPicPr/>
          <p:nvPr/>
        </p:nvPicPr>
        <p:blipFill>
          <a:blip r:embed="rId1"/>
          <a:stretch/>
        </p:blipFill>
        <p:spPr>
          <a:xfrm>
            <a:off x="885960" y="3186000"/>
            <a:ext cx="264960" cy="264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Picture 6" descr="image.png"/>
          <p:cNvPicPr/>
          <p:nvPr/>
        </p:nvPicPr>
        <p:blipFill>
          <a:blip r:embed="rId2"/>
          <a:stretch/>
        </p:blipFill>
        <p:spPr>
          <a:xfrm>
            <a:off x="6486480" y="3186000"/>
            <a:ext cx="303120" cy="264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" name="Picture 7" descr="image.png"/>
          <p:cNvPicPr/>
          <p:nvPr/>
        </p:nvPicPr>
        <p:blipFill>
          <a:blip r:embed="rId3"/>
          <a:stretch/>
        </p:blipFill>
        <p:spPr>
          <a:xfrm>
            <a:off x="885960" y="4452840"/>
            <a:ext cx="303120" cy="264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Picture 8" descr="image.png"/>
          <p:cNvPicPr/>
          <p:nvPr/>
        </p:nvPicPr>
        <p:blipFill>
          <a:blip r:embed="rId4"/>
          <a:stretch/>
        </p:blipFill>
        <p:spPr>
          <a:xfrm>
            <a:off x="6486480" y="4452840"/>
            <a:ext cx="236160" cy="26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TextBox 9"/>
          <p:cNvSpPr/>
          <p:nvPr/>
        </p:nvSpPr>
        <p:spPr>
          <a:xfrm>
            <a:off x="609480" y="533520"/>
            <a:ext cx="110664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1" u="none" strike="noStrike">
                <a:solidFill>
                  <a:srgbClr val="2563EB"/>
                </a:solidFill>
                <a:effectLst/>
                <a:uFillTx/>
                <a:latin typeface="Inter"/>
              </a:rPr>
              <a:t> 08. EVALUACIÓN DE LIMITACIONES </a:t>
            </a:r>
            <a:endParaRPr lang="es-VE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10"/>
          <p:cNvSpPr/>
          <p:nvPr/>
        </p:nvSpPr>
        <p:spPr>
          <a:xfrm>
            <a:off x="609480" y="800280"/>
            <a:ext cx="790596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7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Limitaciones Detectadas en el Simulador</a:t>
            </a:r>
            <a:endParaRPr lang="es-VE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11"/>
          <p:cNvSpPr/>
          <p:nvPr/>
        </p:nvSpPr>
        <p:spPr>
          <a:xfrm>
            <a:off x="1343160" y="3076560"/>
            <a:ext cx="1703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Sin Invalidación</a:t>
            </a:r>
            <a:endParaRPr lang="es-V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12"/>
          <p:cNvSpPr/>
          <p:nvPr/>
        </p:nvSpPr>
        <p:spPr>
          <a:xfrm>
            <a:off x="1343160" y="3362400"/>
            <a:ext cx="338364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Entradas en caché persisten tras borrado.</a:t>
            </a:r>
            <a:endParaRPr lang="es-V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3"/>
          <p:cNvSpPr/>
          <p:nvPr/>
        </p:nvSpPr>
        <p:spPr>
          <a:xfrm>
            <a:off x="6981840" y="3076560"/>
            <a:ext cx="1987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Indirección Simple</a:t>
            </a:r>
            <a:endParaRPr lang="es-V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14"/>
          <p:cNvSpPr/>
          <p:nvPr/>
        </p:nvSpPr>
        <p:spPr>
          <a:xfrm>
            <a:off x="6981840" y="3362400"/>
            <a:ext cx="37432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Ausencia de punteros dobles y triples en Ext2.</a:t>
            </a:r>
            <a:endParaRPr lang="es-V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15"/>
          <p:cNvSpPr/>
          <p:nvPr/>
        </p:nvSpPr>
        <p:spPr>
          <a:xfrm>
            <a:off x="1380960" y="4343400"/>
            <a:ext cx="1685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Memoria Volátil</a:t>
            </a:r>
            <a:endParaRPr lang="es-V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6"/>
          <p:cNvSpPr/>
          <p:nvPr/>
        </p:nvSpPr>
        <p:spPr>
          <a:xfrm>
            <a:off x="1380960" y="4629240"/>
            <a:ext cx="36399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Almacenamiento exclusivo en RAM simulada.</a:t>
            </a:r>
            <a:endParaRPr lang="es-V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7"/>
          <p:cNvSpPr/>
          <p:nvPr/>
        </p:nvSpPr>
        <p:spPr>
          <a:xfrm>
            <a:off x="6915240" y="4343400"/>
            <a:ext cx="2385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500" b="1" u="none" strike="noStrike">
                <a:solidFill>
                  <a:srgbClr val="0F172A"/>
                </a:solidFill>
                <a:effectLst/>
                <a:uFillTx/>
                <a:latin typeface="Space Grotesk"/>
              </a:rPr>
              <a:t>Nombres Restringidos</a:t>
            </a:r>
            <a:endParaRPr lang="es-V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18"/>
          <p:cNvSpPr/>
          <p:nvPr/>
        </p:nvSpPr>
        <p:spPr>
          <a:xfrm>
            <a:off x="6915240" y="4629240"/>
            <a:ext cx="35812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Archivos no permiten caracteres especiales.</a:t>
            </a:r>
            <a:endParaRPr lang="es-V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angle 1"/>
          <p:cNvSpPr/>
          <p:nvPr/>
        </p:nvSpPr>
        <p:spPr>
          <a:xfrm>
            <a:off x="609480" y="5857920"/>
            <a:ext cx="10971000" cy="38880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Rectangle 2"/>
          <p:cNvSpPr/>
          <p:nvPr/>
        </p:nvSpPr>
        <p:spPr>
          <a:xfrm>
            <a:off x="609480" y="2624040"/>
            <a:ext cx="8570880" cy="52200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Rectangle 3"/>
          <p:cNvSpPr/>
          <p:nvPr/>
        </p:nvSpPr>
        <p:spPr>
          <a:xfrm>
            <a:off x="609480" y="3376440"/>
            <a:ext cx="8570880" cy="52200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Rectangle 4"/>
          <p:cNvSpPr/>
          <p:nvPr/>
        </p:nvSpPr>
        <p:spPr>
          <a:xfrm>
            <a:off x="609480" y="4129200"/>
            <a:ext cx="8570880" cy="52200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Rectangle 5"/>
          <p:cNvSpPr/>
          <p:nvPr/>
        </p:nvSpPr>
        <p:spPr>
          <a:xfrm>
            <a:off x="609480" y="5857920"/>
            <a:ext cx="10971000" cy="756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Rectangle 6"/>
          <p:cNvSpPr/>
          <p:nvPr/>
        </p:nvSpPr>
        <p:spPr>
          <a:xfrm>
            <a:off x="609480" y="2624040"/>
            <a:ext cx="26640" cy="5220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320" tIns="45000" rIns="1332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Rectangle 7"/>
          <p:cNvSpPr/>
          <p:nvPr/>
        </p:nvSpPr>
        <p:spPr>
          <a:xfrm>
            <a:off x="609480" y="3376440"/>
            <a:ext cx="26640" cy="5220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320" tIns="45000" rIns="1332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Rectangle 8"/>
          <p:cNvSpPr/>
          <p:nvPr/>
        </p:nvSpPr>
        <p:spPr>
          <a:xfrm>
            <a:off x="609480" y="4129200"/>
            <a:ext cx="26640" cy="5220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320" tIns="45000" rIns="13320" bIns="45000" anchor="ctr">
            <a:noAutofit/>
          </a:bodyPr>
          <a:p>
            <a:pPr/>
            <a:endParaRPr lang="es-E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Box 9"/>
          <p:cNvSpPr/>
          <p:nvPr/>
        </p:nvSpPr>
        <p:spPr>
          <a:xfrm>
            <a:off x="609480" y="609480"/>
            <a:ext cx="110664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050" b="1" u="none" strike="noStrike">
                <a:solidFill>
                  <a:srgbClr val="38BDF8"/>
                </a:solidFill>
                <a:effectLst/>
                <a:uFillTx/>
                <a:latin typeface="Inter"/>
              </a:rPr>
              <a:t> 09. CONCLUSION </a:t>
            </a:r>
            <a:endParaRPr lang="es-VE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10"/>
          <p:cNvSpPr/>
          <p:nvPr/>
        </p:nvSpPr>
        <p:spPr>
          <a:xfrm>
            <a:off x="609480" y="914400"/>
            <a:ext cx="802008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315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Lecciones de Diseño Arquitectónico</a:t>
            </a:r>
            <a:endParaRPr lang="es-VE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11"/>
          <p:cNvSpPr/>
          <p:nvPr/>
        </p:nvSpPr>
        <p:spPr>
          <a:xfrm>
            <a:off x="609480" y="6058080"/>
            <a:ext cx="3451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200" b="0" u="none" strike="noStrike">
                <a:solidFill>
                  <a:srgbClr val="64748B"/>
                </a:solidFill>
                <a:effectLst/>
                <a:uFillTx/>
                <a:latin typeface="Inter"/>
              </a:rPr>
              <a:t>Simulador de Sistemas de Archivos (FAT y Ext2)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12"/>
          <p:cNvSpPr/>
          <p:nvPr/>
        </p:nvSpPr>
        <p:spPr>
          <a:xfrm>
            <a:off x="9982080" y="6058080"/>
            <a:ext cx="1633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200" b="1" u="none" strike="noStrike">
                <a:solidFill>
                  <a:srgbClr val="38BDF8"/>
                </a:solidFill>
                <a:effectLst/>
                <a:uFillTx/>
                <a:latin typeface="Inter"/>
              </a:rPr>
              <a:t>Fin de la Presentación</a:t>
            </a:r>
            <a:endParaRPr lang="es-V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13"/>
          <p:cNvSpPr/>
          <p:nvPr/>
        </p:nvSpPr>
        <p:spPr>
          <a:xfrm>
            <a:off x="866880" y="2624040"/>
            <a:ext cx="296676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65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FAT y Localidad Temporal</a:t>
            </a:r>
            <a:endParaRPr lang="es-VE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14"/>
          <p:cNvSpPr/>
          <p:nvPr/>
        </p:nvSpPr>
        <p:spPr>
          <a:xfrm>
            <a:off x="866880" y="2948040"/>
            <a:ext cx="60526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Esquema secuencial logra altas tasas de acierto reteniendo sectores clave.</a:t>
            </a:r>
            <a:endParaRPr lang="es-VE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15"/>
          <p:cNvSpPr/>
          <p:nvPr/>
        </p:nvSpPr>
        <p:spPr>
          <a:xfrm>
            <a:off x="866880" y="3376440"/>
            <a:ext cx="204768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65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Robustez en Ext2</a:t>
            </a:r>
            <a:endParaRPr lang="es-VE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16"/>
          <p:cNvSpPr/>
          <p:nvPr/>
        </p:nvSpPr>
        <p:spPr>
          <a:xfrm>
            <a:off x="866880" y="3700440"/>
            <a:ext cx="61347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Estabilidad sobresaliente al desacoplar metadatos en estructuras de inodos.</a:t>
            </a:r>
            <a:endParaRPr lang="es-VE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17"/>
          <p:cNvSpPr/>
          <p:nvPr/>
        </p:nvSpPr>
        <p:spPr>
          <a:xfrm>
            <a:off x="866880" y="4129200"/>
            <a:ext cx="342612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65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Importancia de la Simulación</a:t>
            </a:r>
            <a:endParaRPr lang="es-VE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18"/>
          <p:cNvSpPr/>
          <p:nvPr/>
        </p:nvSpPr>
        <p:spPr>
          <a:xfrm>
            <a:off x="866880" y="4452840"/>
            <a:ext cx="633420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350" b="0" u="none" strike="noStrike">
                <a:solidFill>
                  <a:srgbClr val="94A3B8"/>
                </a:solidFill>
                <a:effectLst/>
                <a:uFillTx/>
                <a:latin typeface="Inter"/>
              </a:rPr>
              <a:t>Modelar la jerarquía de memoria revela el impacto real de la latencia operativa.</a:t>
            </a:r>
            <a:endParaRPr lang="es-VE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Application>LibreOffice/26.8.0.3$Linux_X86_64 LibreOffice_project/680$Build-3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es-VE</dc:language>
  <cp:lastModifiedBy/>
  <dcterms:modified xsi:type="dcterms:W3CDTF">2026-10-15T17:12:26Z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